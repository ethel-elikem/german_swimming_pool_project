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Racialised language in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swimming-pool reviews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quantitative findings  |  Ethel Mensah  |  14 July 2026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results, meant to spark discussion — not a finished result.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Google Maps reviews of German swimming pools ever describe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in racial or ethnic terms?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so — is that spread evenly across the country, or is it concentrated in certain places, and does it line up with anything we know about those places?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splits into three concrete research questions — the throughline for everything that follows.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research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9811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when does racialised discourse concentrate — is that spatially structured, or just incidental?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514600"/>
            <a:ext cx="9811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features of a place are associated with this, net of confounding between those features?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77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931920"/>
            <a:ext cx="9811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CONTENT of racialised discourse — not just how often it happens — vary systematically by place?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walks through what each of these looks like in the data so far — and closes by coming back to all three.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looking 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reviews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swimming pools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188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5,529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4340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swimming-pool venues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Germany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1188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65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13816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reviews mentions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/ ethnicity / nationality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(1.5% overall)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was read by a classifier that flags (a) whether it describes a social interaction at all, and (b) whether that description is racialised. We focus on the ~504,000 reviews that describe a social interaction.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WHERE &amp; WHEN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reviews alone can tell 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nothing but the Google Maps review data itself — no outside data yet.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it's becoming more common</a:t>
            </a:r>
            <a:endParaRPr lang="en-US" sz="2400" dirty="0"/>
          </a:p>
        </p:txBody>
      </p:sp>
      <p:pic>
        <p:nvPicPr>
          <p:cNvPr id="4" name="Image 0" descr="/home/claude/deck/01_trend_by_y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4828" y="1005840"/>
            <a:ext cx="7039295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35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has more than doubled since 2021 (0.9% → 2.1%) — a steady climb, not a one-off spike.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ourselves — is the rise real?</a:t>
            </a:r>
            <a:endParaRPr lang="en-US" sz="2400" dirty="0"/>
          </a:p>
        </p:txBody>
      </p:sp>
      <p:pic>
        <p:nvPicPr>
          <p:cNvPr id="4" name="Image 0" descr="/home/claude/deck/02_trend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9696" y="1005840"/>
            <a:ext cx="62295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35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review dates had to be estimated (Google's "2 years ago" style text). The rising trend looks the same whether we use all reviews or only the ~70% with an exact date — so it's not an artifact of the estimation.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it's not spread evenly</a:t>
            </a:r>
            <a:endParaRPr lang="en-US" sz="2400" dirty="0"/>
          </a:p>
        </p:txBody>
      </p:sp>
      <p:pic>
        <p:nvPicPr>
          <p:cNvPr id="4" name="Image 0" descr="/home/claude/deck/03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1270" y="914400"/>
            <a:ext cx="4066413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= higher rate. Some constituencies stand out consistently — this is real geographic clustering, not random scatter. (Hatched areas simply don't have enough reviews yet to trust a rate.)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it's not just one bad pool</a:t>
            </a:r>
            <a:endParaRPr lang="en-US" sz="2400" dirty="0"/>
          </a:p>
        </p:txBody>
      </p:sp>
      <p:pic>
        <p:nvPicPr>
          <p:cNvPr id="4" name="Image 0" descr="/home/claude/deck/04_venue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845" y="960120"/>
            <a:ext cx="7899263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places with a higher rate are places where MORE of their pools have a flagged review — a broad pattern. Right: how much one single pool dominates has no bearing on the overall rate. Together: this is a neighbourhood-wide pattern, not a few bad venues (with a small, clearly-flagged 6% exception).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WHAT FEATURES OF A PLACE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it to the neighbourhood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each constituency's rate to public census, income, unemployment, and election data — does the rate track any of it?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 — what tracks with the rate?</a:t>
            </a:r>
            <a:endParaRPr lang="en-US" sz="2400" dirty="0"/>
          </a:p>
        </p:txBody>
      </p:sp>
      <p:pic>
        <p:nvPicPr>
          <p:cNvPr id="4" name="Image 0" descr="/home/claude/deck/correlation_in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7733" y="960120"/>
            <a:ext cx="4833486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26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socioeconomic and political measures tested at once, one at a time. Red = still stands after a strict statistical correction for testing so many things together. At first glance, 17 of 18 look related — deprivation, age, every party's vote share, even turnout.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4 — where more foreign-born residents live, the rate is higher</a:t>
            </a:r>
            <a:endParaRPr lang="en-US" sz="2400" dirty="0"/>
          </a:p>
        </p:txBody>
      </p:sp>
      <p:pic>
        <p:nvPicPr>
          <p:cNvPr id="4" name="Image 0" descr="/home/claude/deck/05_b1_b2_demograp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948" y="1005840"/>
            <a:ext cx="8335056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neighbourhoods with the most foreign-born residents have roughly double the typical rate of those with the fewest — a steady, statistically real step up. Right: an AfD-vote-share pattern looked interesting at first, but it's explained by pool count, not by AfD itself.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real places on Finding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foreign-born population share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18288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Foreign-born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Racialised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Frankfurt am Main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München-Nord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Stuttgart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Baden-Württemberg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Offenbach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München-Süd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960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foreign-born population share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71600"/>
          <a:ext cx="5394960" cy="18288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Foreign-born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Racialised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Chemnitzer Umland – Erzgebirgskreis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Sachsen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Mansfeld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Sachsen-Anhalt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Bautzen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Sachsen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Erzgebirgskreis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Sachsen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Meckl. Seenplatte II – LK Rostock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Meck.-Vorpommern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E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65760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simply: the high-foreign-population end is mostly big-city constituencies (Frankfurt, Munich, Stuttgart) with rates mostly above the 1.5% national average; the low end is mostly eastern/rural constituencies (Saxony, Saxony-Anhalt, Mecklenburg-Vorpommern) with rates mostly below it. Not a perfect ladder for every single constituency — Offenbach, for instance, is high-foreign-population but has a below-average rate — which is exactly why we look at the group pattern rather than any one place.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5 — most of that first look washes out</a:t>
            </a:r>
            <a:endParaRPr lang="en-US" sz="2400" dirty="0"/>
          </a:p>
        </p:txBody>
      </p:sp>
      <p:pic>
        <p:nvPicPr>
          <p:cNvPr id="4" name="Image 0" descr="/home/claude/deck/04b_correlation_surviv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6721" y="960120"/>
            <a:ext cx="649551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all 18 against how many pools a constituency has, only 7 survive at all — and most of those shrink noticeably (orange → blue). Foreign-born population share and benefits-receipt shrink the least — the strongest, most durable signals we have so far.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6 — does it survive one model with everything at once?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Deprivation, pool count, age structure, vote shares, turnout — all together in a single model, rather than one at a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2F6EF"/>
          </a:solidFill>
          <a:ln w="19050">
            <a:solidFill>
              <a:srgbClr val="55A8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percentage point of foreign-born population in a constituency is associated with about a 3% higher racialised-review rate — even holding every other factor fixed.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Foreign-born population share is the one factor that survives cleanly — alone, after the pool-count check, and now in this combined model too.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did as well: most factors weakened to nothing, or turned out too entangled with each other to separate (e.g. unemployment and benefits-receipt largely measure the same thing).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this is the most preliminary of the findings so far — a first-pass model, still leaves some of the geographic clustering unexplained, and the piece most likely to change next iteration.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back to the three research questions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55A86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91640" y="1161288"/>
            <a:ext cx="9948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when does racialised discourse concentrate, and is that spatially structured or incidental?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691640" y="1636776"/>
            <a:ext cx="9948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— ready to write up close to as-is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9948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rise over time, genuine geographic clustering confirmed statistically (not just visually), and confirmed to be a broad area pattern rather than a handful of venues.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761488"/>
            <a:ext cx="9948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features of a place are associated with this, net of confounding between those features?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91640" y="3236976"/>
            <a:ext cx="9948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 done — real, but incomplete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91640" y="3547872"/>
            <a:ext cx="9948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Foreign-born population share is the one predictor that survives every check, including a joint model with everything else accounted for at once. Still open: two deprivation measures too collinear to separate, and some of the geographic clustering still unexplained.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99999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4361688"/>
            <a:ext cx="9948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CONTENT of racialised discourse — not just how often it happens — vary systematically by place?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91640" y="4837176"/>
            <a:ext cx="9948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today — kept out to stay focused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91640" y="5148072"/>
            <a:ext cx="9948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look suggests themes shift modestly by region while overall tone doesn't. Worth a follow-up once the theme/approach labels have been through inter-annotator agreement checks — not finished yet.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04_presentation_summary.ipynb — "Research questions — what's answered, and what's next"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2026-07-14T08:57:12Z</dcterms:created>
  <dcterms:modified xsi:type="dcterms:W3CDTF">2026-07-14T08:57:12Z</dcterms:modified>
</cp:coreProperties>
</file>